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70" r:id="rId3"/>
    <p:sldId id="272" r:id="rId4"/>
    <p:sldId id="273" r:id="rId5"/>
    <p:sldId id="275" r:id="rId6"/>
    <p:sldId id="276" r:id="rId7"/>
    <p:sldId id="277" r:id="rId8"/>
    <p:sldId id="278" r:id="rId9"/>
    <p:sldId id="280" r:id="rId10"/>
    <p:sldId id="279" r:id="rId11"/>
    <p:sldId id="27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34" autoAdjust="0"/>
    <p:restoredTop sz="94624" autoAdjust="0"/>
  </p:normalViewPr>
  <p:slideViewPr>
    <p:cSldViewPr>
      <p:cViewPr varScale="1">
        <p:scale>
          <a:sx n="76" d="100"/>
          <a:sy n="76" d="100"/>
        </p:scale>
        <p:origin x="1570" y="58"/>
      </p:cViewPr>
      <p:guideLst>
        <p:guide orient="horz" pos="2160"/>
        <p:guide pos="2880"/>
      </p:guideLst>
    </p:cSldViewPr>
  </p:slideViewPr>
  <p:outlineViewPr>
    <p:cViewPr>
      <p:scale>
        <a:sx n="33" d="100"/>
        <a:sy n="33" d="100"/>
      </p:scale>
      <p:origin x="0" y="177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a:t>Click to edit Master title style</a:t>
            </a:r>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705600" y="4206240"/>
            <a:ext cx="960120" cy="457200"/>
          </a:xfrm>
        </p:spPr>
        <p:txBody>
          <a:bodyPr/>
          <a:lstStyle/>
          <a:p>
            <a:fld id="{B1E67E23-0A91-417B-816B-B78EBDD33A62}" type="datetimeFigureOut">
              <a:rPr lang="en-US" smtClean="0"/>
              <a:pPr/>
              <a:t>07-Jan-26</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31DFE2CE-4E88-4DCF-9F3A-7F8AD46B28A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1E67E23-0A91-417B-816B-B78EBDD33A62}" type="datetimeFigureOut">
              <a:rPr lang="en-US" smtClean="0"/>
              <a:pPr/>
              <a:t>07-Jan-26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FE2CE-4E88-4DCF-9F3A-7F8AD46B28A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a:t>Click to edit Master title style</a:t>
            </a:r>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1E67E23-0A91-417B-816B-B78EBDD33A62}" type="datetimeFigureOut">
              <a:rPr lang="en-US" smtClean="0"/>
              <a:pPr/>
              <a:t>07-Jan-26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FE2CE-4E88-4DCF-9F3A-7F8AD46B28A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1E67E23-0A91-417B-816B-B78EBDD33A62}" type="datetimeFigureOut">
              <a:rPr lang="en-US" smtClean="0"/>
              <a:pPr/>
              <a:t>07-Jan-26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DFE2CE-4E88-4DCF-9F3A-7F8AD46B28A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a:t>Click to edit Master title style</a:t>
            </a:r>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Date Placeholder 25"/>
          <p:cNvSpPr>
            <a:spLocks noGrp="1"/>
          </p:cNvSpPr>
          <p:nvPr>
            <p:ph type="dt" sz="half" idx="10"/>
          </p:nvPr>
        </p:nvSpPr>
        <p:spPr/>
        <p:txBody>
          <a:bodyPr rtlCol="0"/>
          <a:lstStyle/>
          <a:p>
            <a:fld id="{B1E67E23-0A91-417B-816B-B78EBDD33A62}" type="datetimeFigureOut">
              <a:rPr lang="en-US" smtClean="0"/>
              <a:pPr/>
              <a:t>07-Jan-26</a:t>
            </a:fld>
            <a:endParaRPr lang="en-US"/>
          </a:p>
        </p:txBody>
      </p:sp>
      <p:sp>
        <p:nvSpPr>
          <p:cNvPr id="27" name="Slide Number Placeholder 26"/>
          <p:cNvSpPr>
            <a:spLocks noGrp="1"/>
          </p:cNvSpPr>
          <p:nvPr>
            <p:ph type="sldNum" sz="quarter" idx="11"/>
          </p:nvPr>
        </p:nvSpPr>
        <p:spPr/>
        <p:txBody>
          <a:bodyPr rtlCol="0"/>
          <a:lstStyle/>
          <a:p>
            <a:fld id="{31DFE2CE-4E88-4DCF-9F3A-7F8AD46B28A8}"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a:t>Click to edit Master title style</a:t>
            </a:r>
          </a:p>
        </p:txBody>
      </p:sp>
      <p:sp>
        <p:nvSpPr>
          <p:cNvPr id="3" name="Date Placeholder 2"/>
          <p:cNvSpPr>
            <a:spLocks noGrp="1"/>
          </p:cNvSpPr>
          <p:nvPr>
            <p:ph type="dt" sz="half" idx="10"/>
          </p:nvPr>
        </p:nvSpPr>
        <p:spPr>
          <a:xfrm>
            <a:off x="6583680" y="612648"/>
            <a:ext cx="957264" cy="457200"/>
          </a:xfrm>
        </p:spPr>
        <p:txBody>
          <a:bodyPr/>
          <a:lstStyle/>
          <a:p>
            <a:fld id="{B1E67E23-0A91-417B-816B-B78EBDD33A62}" type="datetimeFigureOut">
              <a:rPr lang="en-US" smtClean="0"/>
              <a:pPr/>
              <a:t>07-Jan-26</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31DFE2CE-4E88-4DCF-9F3A-7F8AD46B28A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E67E23-0A91-417B-816B-B78EBDD33A62}" type="datetimeFigureOut">
              <a:rPr lang="en-US" smtClean="0"/>
              <a:pPr/>
              <a:t>07-Jan-26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1DFE2CE-4E88-4DCF-9F3A-7F8AD46B28A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a:t>Click to edit Master title style</a:t>
            </a:r>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B1E67E23-0A91-417B-816B-B78EBDD33A62}" type="datetimeFigureOut">
              <a:rPr lang="en-US" smtClean="0"/>
              <a:pPr/>
              <a:t>07-Jan-26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DFE2CE-4E88-4DCF-9F3A-7F8AD46B28A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a:t>Click to edit Master title style</a:t>
            </a:r>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1E67E23-0A91-417B-816B-B78EBDD33A62}" type="datetimeFigureOut">
              <a:rPr lang="en-US" smtClean="0"/>
              <a:pPr/>
              <a:t>07-Jan-26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1DFE2CE-4E88-4DCF-9F3A-7F8AD46B28A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1E67E23-0A91-417B-816B-B78EBDD33A62}" type="datetimeFigureOut">
              <a:rPr lang="en-US" smtClean="0"/>
              <a:pPr/>
              <a:t>07-Jan-26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FE2CE-4E88-4DCF-9F3A-7F8AD46B28A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1E67E23-0A91-417B-816B-B78EBDD33A62}" type="datetimeFigureOut">
              <a:rPr lang="en-US" smtClean="0"/>
              <a:pPr/>
              <a:t>07-Jan-26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1DFE2CE-4E88-4DCF-9F3A-7F8AD46B28A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B1E67E23-0A91-417B-816B-B78EBDD33A62}" type="datetimeFigureOut">
              <a:rPr lang="en-US" smtClean="0"/>
              <a:pPr/>
              <a:t>07-Jan-26</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31DFE2CE-4E88-4DCF-9F3A-7F8AD46B28A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28600" y="762000"/>
            <a:ext cx="8686800" cy="5821362"/>
          </a:xfrm>
        </p:spPr>
        <p:txBody>
          <a:bodyPr>
            <a:normAutofit fontScale="90000"/>
          </a:bodyPr>
          <a:lstStyle/>
          <a:p>
            <a:pPr algn="ct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r>
              <a:rPr lang="en-US" sz="2400" dirty="0">
                <a:solidFill>
                  <a:schemeClr val="tx1"/>
                </a:solidFill>
                <a:latin typeface="Arial" pitchFamily="34" charset="0"/>
                <a:cs typeface="Arial" pitchFamily="34" charset="0"/>
              </a:rPr>
              <a:t> BS(SE)</a:t>
            </a: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r>
              <a:rPr lang="en-US" sz="2400" b="1" dirty="0">
                <a:solidFill>
                  <a:schemeClr val="tx1"/>
                </a:solidFill>
                <a:latin typeface="Arial" pitchFamily="34" charset="0"/>
                <a:cs typeface="Arial" pitchFamily="34" charset="0"/>
              </a:rPr>
              <a:t>PRESENTED BY: </a:t>
            </a:r>
            <a:br>
              <a:rPr lang="en-US" sz="2400" b="1" dirty="0">
                <a:solidFill>
                  <a:schemeClr val="tx1"/>
                </a:solidFill>
                <a:latin typeface="Arial" pitchFamily="34" charset="0"/>
                <a:cs typeface="Arial" pitchFamily="34" charset="0"/>
              </a:rPr>
            </a:br>
            <a:r>
              <a:rPr lang="en-US" sz="2400" dirty="0">
                <a:solidFill>
                  <a:schemeClr val="tx1"/>
                </a:solidFill>
                <a:latin typeface="Arial" pitchFamily="34" charset="0"/>
                <a:cs typeface="Arial" pitchFamily="34" charset="0"/>
              </a:rPr>
              <a:t>Ramla Rahman        20949</a:t>
            </a:r>
            <a:br>
              <a:rPr lang="en-US" sz="2400" dirty="0">
                <a:solidFill>
                  <a:schemeClr val="tx1"/>
                </a:solidFill>
                <a:latin typeface="Arial" pitchFamily="34" charset="0"/>
                <a:cs typeface="Arial" pitchFamily="34" charset="0"/>
              </a:rPr>
            </a:br>
            <a:r>
              <a:rPr lang="en-US" sz="2400" dirty="0">
                <a:solidFill>
                  <a:schemeClr val="tx1"/>
                </a:solidFill>
                <a:latin typeface="Arial" pitchFamily="34" charset="0"/>
                <a:cs typeface="Arial" pitchFamily="34" charset="0"/>
              </a:rPr>
              <a:t> Adila        20397 </a:t>
            </a: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r>
              <a:rPr lang="en-US" sz="2400" b="1" dirty="0">
                <a:solidFill>
                  <a:schemeClr val="tx1"/>
                </a:solidFill>
                <a:latin typeface="Arial" pitchFamily="34" charset="0"/>
                <a:cs typeface="Arial" pitchFamily="34" charset="0"/>
              </a:rPr>
              <a:t>SUPERVISOR</a:t>
            </a:r>
            <a:br>
              <a:rPr lang="en-US" sz="2400" dirty="0">
                <a:solidFill>
                  <a:schemeClr val="tx1"/>
                </a:solidFill>
                <a:latin typeface="Arial" pitchFamily="34" charset="0"/>
                <a:cs typeface="Arial" pitchFamily="34" charset="0"/>
              </a:rPr>
            </a:br>
            <a:r>
              <a:rPr lang="en-US" sz="2400" dirty="0">
                <a:solidFill>
                  <a:schemeClr val="tx1"/>
                </a:solidFill>
                <a:latin typeface="Arial" pitchFamily="34" charset="0"/>
                <a:cs typeface="Arial" pitchFamily="34" charset="0"/>
              </a:rPr>
              <a:t>Muhammad Abrar Khan</a:t>
            </a:r>
            <a:br>
              <a:rPr lang="en-US" sz="2400" dirty="0">
                <a:solidFill>
                  <a:schemeClr val="tx1"/>
                </a:solidFill>
                <a:latin typeface="Arial" pitchFamily="34" charset="0"/>
                <a:cs typeface="Arial" pitchFamily="34" charset="0"/>
              </a:rPr>
            </a:br>
            <a:br>
              <a:rPr lang="en-US" sz="2400" dirty="0">
                <a:solidFill>
                  <a:schemeClr val="tx1"/>
                </a:solidFill>
                <a:latin typeface="Arial" pitchFamily="34" charset="0"/>
                <a:cs typeface="Arial" pitchFamily="34" charset="0"/>
              </a:rPr>
            </a:br>
            <a:br>
              <a:rPr lang="en-US" sz="2800" dirty="0">
                <a:solidFill>
                  <a:schemeClr val="tx1"/>
                </a:solidFill>
                <a:latin typeface="Arial" pitchFamily="34" charset="0"/>
                <a:cs typeface="Arial" pitchFamily="34" charset="0"/>
              </a:rPr>
            </a:br>
            <a:br>
              <a:rPr lang="en-US" sz="2800" dirty="0">
                <a:solidFill>
                  <a:schemeClr val="tx1"/>
                </a:solidFill>
                <a:latin typeface="Arial" pitchFamily="34" charset="0"/>
                <a:cs typeface="Arial" pitchFamily="34" charset="0"/>
              </a:rPr>
            </a:br>
            <a:endParaRPr lang="en-US" sz="2800" dirty="0">
              <a:solidFill>
                <a:schemeClr val="tx1"/>
              </a:solidFill>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3429000" y="1219200"/>
            <a:ext cx="2209800" cy="2057400"/>
          </a:xfrm>
          <a:prstGeom prst="rect">
            <a:avLst/>
          </a:prstGeom>
          <a:noFill/>
          <a:ln w="9525">
            <a:noFill/>
            <a:miter lim="800000"/>
            <a:headEnd/>
            <a:tailEnd/>
          </a:ln>
        </p:spPr>
      </p:pic>
      <p:sp>
        <p:nvSpPr>
          <p:cNvPr id="5" name="Rectangle 4"/>
          <p:cNvSpPr/>
          <p:nvPr/>
        </p:nvSpPr>
        <p:spPr>
          <a:xfrm>
            <a:off x="228600" y="762000"/>
            <a:ext cx="8686800" cy="584775"/>
          </a:xfrm>
          <a:prstGeom prst="rect">
            <a:avLst/>
          </a:prstGeom>
        </p:spPr>
        <p:txBody>
          <a:bodyPr wrap="square">
            <a:spAutoFit/>
          </a:bodyPr>
          <a:lstStyle/>
          <a:p>
            <a:pPr algn="ctr"/>
            <a:r>
              <a:rPr lang="en-US" sz="3200" b="1" dirty="0"/>
              <a:t>Online Assessment Proctoring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Arial" pitchFamily="34" charset="0"/>
                <a:cs typeface="Arial" pitchFamily="34" charset="0"/>
              </a:rPr>
              <a:t>Outline</a:t>
            </a:r>
          </a:p>
        </p:txBody>
      </p:sp>
      <p:sp>
        <p:nvSpPr>
          <p:cNvPr id="3" name="Content Placeholder 2"/>
          <p:cNvSpPr>
            <a:spLocks noGrp="1"/>
          </p:cNvSpPr>
          <p:nvPr>
            <p:ph idx="1"/>
          </p:nvPr>
        </p:nvSpPr>
        <p:spPr/>
        <p:txBody>
          <a:bodyPr/>
          <a:lstStyle/>
          <a:p>
            <a:pPr marL="430124" indent="-323784">
              <a:buSzPct val="45000"/>
              <a:buFont typeface="Wingdings" charset="0"/>
              <a:buChar char=""/>
              <a:tabLst>
                <a:tab pos="430124" algn="l"/>
                <a:tab pos="542813" algn="l"/>
                <a:tab pos="999919" algn="l"/>
                <a:tab pos="1457023" algn="l"/>
                <a:tab pos="1914130" algn="l"/>
                <a:tab pos="2371235" algn="l"/>
                <a:tab pos="2828341" algn="l"/>
                <a:tab pos="3285447" algn="l"/>
                <a:tab pos="3742552" algn="l"/>
                <a:tab pos="4199658" algn="l"/>
                <a:tab pos="4656764" algn="l"/>
                <a:tab pos="5113869" algn="l"/>
                <a:tab pos="5570975" algn="l"/>
                <a:tab pos="6028081" algn="l"/>
                <a:tab pos="6485187" algn="l"/>
                <a:tab pos="6942292" algn="l"/>
                <a:tab pos="7399397" algn="l"/>
                <a:tab pos="7856503" algn="l"/>
                <a:tab pos="8313608" algn="l"/>
                <a:tab pos="8770715" algn="l"/>
                <a:tab pos="9227820" algn="l"/>
              </a:tabLst>
              <a:defRPr/>
            </a:pPr>
            <a:r>
              <a:rPr lang="en-US" dirty="0"/>
              <a:t>Introduction </a:t>
            </a:r>
          </a:p>
          <a:p>
            <a:pPr marL="430124" indent="-323784">
              <a:buSzPct val="45000"/>
              <a:buFont typeface="Wingdings" charset="0"/>
              <a:buChar char=""/>
              <a:tabLst>
                <a:tab pos="430124" algn="l"/>
                <a:tab pos="542813" algn="l"/>
                <a:tab pos="999919" algn="l"/>
                <a:tab pos="1457023" algn="l"/>
                <a:tab pos="1914130" algn="l"/>
                <a:tab pos="2371235" algn="l"/>
                <a:tab pos="2828341" algn="l"/>
                <a:tab pos="3285447" algn="l"/>
                <a:tab pos="3742552" algn="l"/>
                <a:tab pos="4199658" algn="l"/>
                <a:tab pos="4656764" algn="l"/>
                <a:tab pos="5113869" algn="l"/>
                <a:tab pos="5570975" algn="l"/>
                <a:tab pos="6028081" algn="l"/>
                <a:tab pos="6485187" algn="l"/>
                <a:tab pos="6942292" algn="l"/>
                <a:tab pos="7399397" algn="l"/>
                <a:tab pos="7856503" algn="l"/>
                <a:tab pos="8313608" algn="l"/>
                <a:tab pos="8770715" algn="l"/>
                <a:tab pos="9227820" algn="l"/>
              </a:tabLst>
              <a:defRPr/>
            </a:pPr>
            <a:r>
              <a:rPr lang="en-US" dirty="0"/>
              <a:t>Related Work</a:t>
            </a:r>
          </a:p>
          <a:p>
            <a:pPr marL="430124" indent="-323784">
              <a:buSzPct val="45000"/>
              <a:buFont typeface="Wingdings" charset="0"/>
              <a:buChar char=""/>
              <a:tabLst>
                <a:tab pos="430124" algn="l"/>
                <a:tab pos="542813" algn="l"/>
                <a:tab pos="999919" algn="l"/>
                <a:tab pos="1457023" algn="l"/>
                <a:tab pos="1914130" algn="l"/>
                <a:tab pos="2371235" algn="l"/>
                <a:tab pos="2828341" algn="l"/>
                <a:tab pos="3285447" algn="l"/>
                <a:tab pos="3742552" algn="l"/>
                <a:tab pos="4199658" algn="l"/>
                <a:tab pos="4656764" algn="l"/>
                <a:tab pos="5113869" algn="l"/>
                <a:tab pos="5570975" algn="l"/>
                <a:tab pos="6028081" algn="l"/>
                <a:tab pos="6485187" algn="l"/>
                <a:tab pos="6942292" algn="l"/>
                <a:tab pos="7399397" algn="l"/>
                <a:tab pos="7856503" algn="l"/>
                <a:tab pos="8313608" algn="l"/>
                <a:tab pos="8770715" algn="l"/>
                <a:tab pos="9227820" algn="l"/>
              </a:tabLst>
              <a:defRPr/>
            </a:pPr>
            <a:r>
              <a:rPr lang="en-US" dirty="0"/>
              <a:t>Problem Statement</a:t>
            </a:r>
          </a:p>
          <a:p>
            <a:pPr marL="430124" indent="-323784">
              <a:buSzPct val="45000"/>
              <a:buFont typeface="Wingdings" charset="0"/>
              <a:buChar char=""/>
              <a:tabLst>
                <a:tab pos="430124" algn="l"/>
                <a:tab pos="542813" algn="l"/>
                <a:tab pos="999919" algn="l"/>
                <a:tab pos="1457023" algn="l"/>
                <a:tab pos="1914130" algn="l"/>
                <a:tab pos="2371235" algn="l"/>
                <a:tab pos="2828341" algn="l"/>
                <a:tab pos="3285447" algn="l"/>
                <a:tab pos="3742552" algn="l"/>
                <a:tab pos="4199658" algn="l"/>
                <a:tab pos="4656764" algn="l"/>
                <a:tab pos="5113869" algn="l"/>
                <a:tab pos="5570975" algn="l"/>
                <a:tab pos="6028081" algn="l"/>
                <a:tab pos="6485187" algn="l"/>
                <a:tab pos="6942292" algn="l"/>
                <a:tab pos="7399397" algn="l"/>
                <a:tab pos="7856503" algn="l"/>
                <a:tab pos="8313608" algn="l"/>
                <a:tab pos="8770715" algn="l"/>
                <a:tab pos="9227820" algn="l"/>
              </a:tabLst>
              <a:defRPr/>
            </a:pPr>
            <a:r>
              <a:rPr lang="en-US" dirty="0"/>
              <a:t>Proposed Solution</a:t>
            </a:r>
          </a:p>
          <a:p>
            <a:pPr marL="430124" indent="-323784">
              <a:buSzPct val="45000"/>
              <a:buFont typeface="Wingdings" charset="0"/>
              <a:buChar char=""/>
              <a:tabLst>
                <a:tab pos="430124" algn="l"/>
                <a:tab pos="542813" algn="l"/>
                <a:tab pos="999919" algn="l"/>
                <a:tab pos="1457023" algn="l"/>
                <a:tab pos="1914130" algn="l"/>
                <a:tab pos="2371235" algn="l"/>
                <a:tab pos="2828341" algn="l"/>
                <a:tab pos="3285447" algn="l"/>
                <a:tab pos="3742552" algn="l"/>
                <a:tab pos="4199658" algn="l"/>
                <a:tab pos="4656764" algn="l"/>
                <a:tab pos="5113869" algn="l"/>
                <a:tab pos="5570975" algn="l"/>
                <a:tab pos="6028081" algn="l"/>
                <a:tab pos="6485187" algn="l"/>
                <a:tab pos="6942292" algn="l"/>
                <a:tab pos="7399397" algn="l"/>
                <a:tab pos="7856503" algn="l"/>
                <a:tab pos="8313608" algn="l"/>
                <a:tab pos="8770715" algn="l"/>
                <a:tab pos="9227820" algn="l"/>
              </a:tabLst>
              <a:defRPr/>
            </a:pPr>
            <a:r>
              <a:rPr lang="en-US" dirty="0"/>
              <a:t>Methodology</a:t>
            </a:r>
          </a:p>
          <a:p>
            <a:pPr marL="430124" indent="-323784">
              <a:buSzPct val="45000"/>
              <a:buFont typeface="Wingdings" charset="0"/>
              <a:buChar char=""/>
              <a:tabLst>
                <a:tab pos="430124" algn="l"/>
                <a:tab pos="542813" algn="l"/>
                <a:tab pos="999919" algn="l"/>
                <a:tab pos="1457023" algn="l"/>
                <a:tab pos="1914130" algn="l"/>
                <a:tab pos="2371235" algn="l"/>
                <a:tab pos="2828341" algn="l"/>
                <a:tab pos="3285447" algn="l"/>
                <a:tab pos="3742552" algn="l"/>
                <a:tab pos="4199658" algn="l"/>
                <a:tab pos="4656764" algn="l"/>
                <a:tab pos="5113869" algn="l"/>
                <a:tab pos="5570975" algn="l"/>
                <a:tab pos="6028081" algn="l"/>
                <a:tab pos="6485187" algn="l"/>
                <a:tab pos="6942292" algn="l"/>
                <a:tab pos="7399397" algn="l"/>
                <a:tab pos="7856503" algn="l"/>
                <a:tab pos="8313608" algn="l"/>
                <a:tab pos="8770715" algn="l"/>
                <a:tab pos="9227820" algn="l"/>
              </a:tabLst>
              <a:defRPr/>
            </a:pPr>
            <a:r>
              <a:rPr lang="en-US" dirty="0"/>
              <a:t>Tools</a:t>
            </a:r>
          </a:p>
          <a:p>
            <a:pPr marL="430124" indent="-323784">
              <a:buSzPct val="45000"/>
              <a:buFont typeface="Wingdings" charset="0"/>
              <a:buChar char=""/>
              <a:tabLst>
                <a:tab pos="430124" algn="l"/>
                <a:tab pos="542813" algn="l"/>
                <a:tab pos="999919" algn="l"/>
                <a:tab pos="1457023" algn="l"/>
                <a:tab pos="1914130" algn="l"/>
                <a:tab pos="2371235" algn="l"/>
                <a:tab pos="2828341" algn="l"/>
                <a:tab pos="3285447" algn="l"/>
                <a:tab pos="3742552" algn="l"/>
                <a:tab pos="4199658" algn="l"/>
                <a:tab pos="4656764" algn="l"/>
                <a:tab pos="5113869" algn="l"/>
                <a:tab pos="5570975" algn="l"/>
                <a:tab pos="6028081" algn="l"/>
                <a:tab pos="6485187" algn="l"/>
                <a:tab pos="6942292" algn="l"/>
                <a:tab pos="7399397" algn="l"/>
                <a:tab pos="7856503" algn="l"/>
                <a:tab pos="8313608" algn="l"/>
                <a:tab pos="8770715" algn="l"/>
                <a:tab pos="9227820" algn="l"/>
              </a:tabLst>
              <a:defRPr/>
            </a:pPr>
            <a:r>
              <a:rPr lang="en-US" dirty="0"/>
              <a:t>References</a:t>
            </a:r>
            <a:endParaRPr lang="en-US" dirty="0">
              <a:latin typeface="Arial" pitchFamily="34" charset="0"/>
              <a:cs typeface="Arial" pitchFamily="34" charset="0"/>
            </a:endParaRPr>
          </a:p>
          <a:p>
            <a:endParaRPr lang="en-US" dirty="0">
              <a:latin typeface="Arial" pitchFamily="34" charset="0"/>
              <a:cs typeface="Arial"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3124200" cy="1069848"/>
          </a:xfrm>
        </p:spPr>
        <p:txBody>
          <a:bodyPr>
            <a:normAutofit/>
          </a:bodyPr>
          <a:lstStyle/>
          <a:p>
            <a:r>
              <a:rPr lang="en-US" dirty="0"/>
              <a:t>Introduction</a:t>
            </a:r>
          </a:p>
        </p:txBody>
      </p:sp>
      <p:sp>
        <p:nvSpPr>
          <p:cNvPr id="6" name="TextBox 5">
            <a:extLst>
              <a:ext uri="{FF2B5EF4-FFF2-40B4-BE49-F238E27FC236}">
                <a16:creationId xmlns:a16="http://schemas.microsoft.com/office/drawing/2014/main" id="{329670C0-97AB-5C8B-DD0A-BB187BA728BA}"/>
              </a:ext>
            </a:extLst>
          </p:cNvPr>
          <p:cNvSpPr txBox="1"/>
          <p:nvPr/>
        </p:nvSpPr>
        <p:spPr>
          <a:xfrm>
            <a:off x="495300" y="2286000"/>
            <a:ext cx="8153400" cy="3600986"/>
          </a:xfrm>
          <a:prstGeom prst="rect">
            <a:avLst/>
          </a:prstGeom>
          <a:noFill/>
        </p:spPr>
        <p:txBody>
          <a:bodyPr wrap="square">
            <a:spAutoFit/>
          </a:bodyPr>
          <a:lstStyle/>
          <a:p>
            <a:r>
              <a:rPr lang="en-US" dirty="0"/>
              <a:t>Online interviews have become widely adopted due to advancements in information and communication technologies, offering cost efficiency and accessibility. However, they raise concerns about </a:t>
            </a:r>
            <a:r>
              <a:rPr lang="en-US" b="1" dirty="0"/>
              <a:t>fairness</a:t>
            </a:r>
            <a:r>
              <a:rPr lang="en-US" dirty="0"/>
              <a:t> and </a:t>
            </a:r>
            <a:r>
              <a:rPr lang="en-US" b="1" dirty="0"/>
              <a:t>integrity </a:t>
            </a:r>
            <a:r>
              <a:rPr lang="en-US" dirty="0"/>
              <a:t>because candidates may use unauthorized resources or receive external assistance. To address these challenges, the </a:t>
            </a:r>
            <a:r>
              <a:rPr lang="en-US" b="1" dirty="0"/>
              <a:t>Online Assessment Proctoring System (OAPS) </a:t>
            </a:r>
            <a:r>
              <a:rPr lang="en-US" dirty="0"/>
              <a:t>is proposed as an automated monitoring solution.</a:t>
            </a:r>
          </a:p>
          <a:p>
            <a:endParaRPr lang="en-US" dirty="0"/>
          </a:p>
          <a:p>
            <a:pPr marL="457200" indent="-457200">
              <a:buFont typeface="Arial" panose="020B0604020202020204" pitchFamily="34" charset="0"/>
              <a:buChar char="•"/>
            </a:pPr>
            <a:r>
              <a:rPr lang="en-US" sz="2800" dirty="0"/>
              <a:t>Gaze Detection</a:t>
            </a:r>
          </a:p>
          <a:p>
            <a:pPr marL="457200" indent="-457200">
              <a:buFont typeface="Arial" panose="020B0604020202020204" pitchFamily="34" charset="0"/>
              <a:buChar char="•"/>
            </a:pPr>
            <a:r>
              <a:rPr lang="en-US" sz="2800" dirty="0"/>
              <a:t>Screen Tracking</a:t>
            </a:r>
          </a:p>
          <a:p>
            <a:pPr marL="457200" indent="-457200">
              <a:buFont typeface="Arial" panose="020B0604020202020204" pitchFamily="34" charset="0"/>
              <a:buChar char="•"/>
            </a:pPr>
            <a:r>
              <a:rPr lang="en-US" sz="2800" dirty="0"/>
              <a:t>Object Detection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720" y="909148"/>
            <a:ext cx="8229600" cy="1069848"/>
          </a:xfrm>
        </p:spPr>
        <p:txBody>
          <a:bodyPr/>
          <a:lstStyle/>
          <a:p>
            <a:r>
              <a:rPr lang="en-US" dirty="0"/>
              <a:t>Related Work</a:t>
            </a:r>
          </a:p>
        </p:txBody>
      </p:sp>
      <p:sp>
        <p:nvSpPr>
          <p:cNvPr id="4" name="TextBox 3">
            <a:extLst>
              <a:ext uri="{FF2B5EF4-FFF2-40B4-BE49-F238E27FC236}">
                <a16:creationId xmlns:a16="http://schemas.microsoft.com/office/drawing/2014/main" id="{CD670D06-8880-75C7-490F-C58AE7EFF359}"/>
              </a:ext>
            </a:extLst>
          </p:cNvPr>
          <p:cNvSpPr txBox="1"/>
          <p:nvPr/>
        </p:nvSpPr>
        <p:spPr>
          <a:xfrm>
            <a:off x="426720" y="2014163"/>
            <a:ext cx="8001000" cy="461665"/>
          </a:xfrm>
          <a:prstGeom prst="rect">
            <a:avLst/>
          </a:prstGeom>
          <a:noFill/>
        </p:spPr>
        <p:txBody>
          <a:bodyPr wrap="square">
            <a:spAutoFit/>
          </a:bodyPr>
          <a:lstStyle/>
          <a:p>
            <a:pPr>
              <a:buNone/>
            </a:pPr>
            <a:r>
              <a:rPr lang="sv-SE" sz="2400" b="1" dirty="0"/>
              <a:t>Maria Ahmad And Ghassan Mohammad. (2025):</a:t>
            </a:r>
          </a:p>
        </p:txBody>
      </p:sp>
      <p:sp>
        <p:nvSpPr>
          <p:cNvPr id="6" name="TextBox 5">
            <a:extLst>
              <a:ext uri="{FF2B5EF4-FFF2-40B4-BE49-F238E27FC236}">
                <a16:creationId xmlns:a16="http://schemas.microsoft.com/office/drawing/2014/main" id="{F980B0C0-4C7C-61DE-6320-A9D3A4A673FF}"/>
              </a:ext>
            </a:extLst>
          </p:cNvPr>
          <p:cNvSpPr txBox="1"/>
          <p:nvPr/>
        </p:nvSpPr>
        <p:spPr>
          <a:xfrm>
            <a:off x="480060" y="2384828"/>
            <a:ext cx="8382000" cy="1477328"/>
          </a:xfrm>
          <a:prstGeom prst="rect">
            <a:avLst/>
          </a:prstGeom>
          <a:noFill/>
        </p:spPr>
        <p:txBody>
          <a:bodyPr wrap="square">
            <a:spAutoFit/>
          </a:bodyPr>
          <a:lstStyle/>
          <a:p>
            <a:pPr>
              <a:buNone/>
            </a:pPr>
            <a:r>
              <a:rPr lang="en-US" b="1" dirty="0"/>
              <a:t>Technique:</a:t>
            </a:r>
            <a:r>
              <a:rPr lang="en-US" dirty="0"/>
              <a:t> Webcam-based face Detection</a:t>
            </a:r>
          </a:p>
          <a:p>
            <a:pPr>
              <a:buNone/>
            </a:pPr>
            <a:r>
              <a:rPr lang="en-US" b="1" dirty="0"/>
              <a:t>Key Focus:</a:t>
            </a:r>
            <a:r>
              <a:rPr lang="en-US" dirty="0"/>
              <a:t> Detects head movement and face presence during online exams, Not interviews.</a:t>
            </a:r>
          </a:p>
          <a:p>
            <a:pPr>
              <a:buNone/>
            </a:pPr>
            <a:r>
              <a:rPr lang="en-US" b="1" dirty="0"/>
              <a:t>Limitation:</a:t>
            </a:r>
            <a:r>
              <a:rPr lang="en-US" dirty="0"/>
              <a:t> Does not accurately detect gaze direction or screen switching, making it susceptible to students looking at other resources or screens.</a:t>
            </a:r>
          </a:p>
        </p:txBody>
      </p:sp>
      <p:sp>
        <p:nvSpPr>
          <p:cNvPr id="8" name="TextBox 7">
            <a:extLst>
              <a:ext uri="{FF2B5EF4-FFF2-40B4-BE49-F238E27FC236}">
                <a16:creationId xmlns:a16="http://schemas.microsoft.com/office/drawing/2014/main" id="{0E3D22F5-7923-A414-2F96-827ADB6363F4}"/>
              </a:ext>
            </a:extLst>
          </p:cNvPr>
          <p:cNvSpPr txBox="1"/>
          <p:nvPr/>
        </p:nvSpPr>
        <p:spPr>
          <a:xfrm>
            <a:off x="426720" y="3886284"/>
            <a:ext cx="9029700" cy="1569660"/>
          </a:xfrm>
          <a:prstGeom prst="rect">
            <a:avLst/>
          </a:prstGeom>
          <a:noFill/>
        </p:spPr>
        <p:txBody>
          <a:bodyPr wrap="square">
            <a:spAutoFit/>
          </a:bodyPr>
          <a:lstStyle/>
          <a:p>
            <a:r>
              <a:rPr lang="en-US" sz="2400" b="1" dirty="0"/>
              <a:t>S. Khan et al. (2021)</a:t>
            </a:r>
          </a:p>
          <a:p>
            <a:r>
              <a:rPr lang="en-US" b="1" dirty="0"/>
              <a:t>Technique:</a:t>
            </a:r>
            <a:r>
              <a:rPr lang="en-US" dirty="0"/>
              <a:t> Object detection using deep learning</a:t>
            </a:r>
          </a:p>
          <a:p>
            <a:r>
              <a:rPr lang="en-US" b="1" dirty="0"/>
              <a:t>Key Focus:</a:t>
            </a:r>
            <a:r>
              <a:rPr lang="en-US" dirty="0"/>
              <a:t> Detects unauthorized objects such as mobile phones and books.</a:t>
            </a:r>
          </a:p>
          <a:p>
            <a:r>
              <a:rPr lang="en-US" b="1" dirty="0"/>
              <a:t>Limitation:</a:t>
            </a:r>
            <a:r>
              <a:rPr lang="en-US" dirty="0"/>
              <a:t> Lacks gaze monitoring and comprehensive behavioral analysis, potentially missing more subtle forms of cheating.</a:t>
            </a:r>
          </a:p>
        </p:txBody>
      </p:sp>
      <p:sp>
        <p:nvSpPr>
          <p:cNvPr id="10" name="TextBox 9">
            <a:extLst>
              <a:ext uri="{FF2B5EF4-FFF2-40B4-BE49-F238E27FC236}">
                <a16:creationId xmlns:a16="http://schemas.microsoft.com/office/drawing/2014/main" id="{40BD7418-1A62-6A4A-DF84-6A3CD5D18253}"/>
              </a:ext>
            </a:extLst>
          </p:cNvPr>
          <p:cNvSpPr txBox="1"/>
          <p:nvPr/>
        </p:nvSpPr>
        <p:spPr>
          <a:xfrm>
            <a:off x="251460" y="5541804"/>
            <a:ext cx="8610600" cy="923330"/>
          </a:xfrm>
          <a:prstGeom prst="rect">
            <a:avLst/>
          </a:prstGeom>
          <a:noFill/>
        </p:spPr>
        <p:txBody>
          <a:bodyPr wrap="square">
            <a:spAutoFit/>
          </a:bodyPr>
          <a:lstStyle/>
          <a:p>
            <a:pPr>
              <a:buNone/>
            </a:pPr>
            <a:r>
              <a:rPr lang="en-US" dirty="0"/>
              <a:t>These examples highlight the need for a more robust system that can integrate various detection methods to enhance fairness and integrity in online assessments.</a:t>
            </a:r>
            <a:r>
              <a:rPr lang="en-US" b="1" i="1" dirty="0"/>
              <a:t> OASPS</a:t>
            </a:r>
            <a:r>
              <a:rPr lang="en-US" dirty="0"/>
              <a:t> Provides all in one solution for online interviews.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 Statement</a:t>
            </a:r>
          </a:p>
        </p:txBody>
      </p:sp>
      <p:sp>
        <p:nvSpPr>
          <p:cNvPr id="4" name="TextBox 3">
            <a:extLst>
              <a:ext uri="{FF2B5EF4-FFF2-40B4-BE49-F238E27FC236}">
                <a16:creationId xmlns:a16="http://schemas.microsoft.com/office/drawing/2014/main" id="{3E1498A6-91AE-8308-7E5A-CE05A5A41A20}"/>
              </a:ext>
            </a:extLst>
          </p:cNvPr>
          <p:cNvSpPr txBox="1"/>
          <p:nvPr/>
        </p:nvSpPr>
        <p:spPr>
          <a:xfrm>
            <a:off x="457200" y="2362200"/>
            <a:ext cx="8534400" cy="1631216"/>
          </a:xfrm>
          <a:prstGeom prst="rect">
            <a:avLst/>
          </a:prstGeom>
          <a:noFill/>
        </p:spPr>
        <p:txBody>
          <a:bodyPr wrap="square">
            <a:spAutoFit/>
          </a:bodyPr>
          <a:lstStyle/>
          <a:p>
            <a:pPr>
              <a:buNone/>
            </a:pPr>
            <a:r>
              <a:rPr lang="en-US" sz="2000" dirty="0"/>
              <a:t>Existing online interview systems lack an intelligent and unified mechanism to monitor candidate behavior effectively. There is no comprehensive solution that can accurately detect suspicious activities such as frequent gaze diversion, and unauthorized screen changes, leading to compromised interview integrity.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143000"/>
            <a:ext cx="8229600" cy="1069848"/>
          </a:xfrm>
        </p:spPr>
        <p:txBody>
          <a:bodyPr/>
          <a:lstStyle/>
          <a:p>
            <a:r>
              <a:rPr lang="en-US" dirty="0"/>
              <a:t>Proposed Solution</a:t>
            </a:r>
          </a:p>
        </p:txBody>
      </p:sp>
      <p:sp>
        <p:nvSpPr>
          <p:cNvPr id="4" name="TextBox 3">
            <a:extLst>
              <a:ext uri="{FF2B5EF4-FFF2-40B4-BE49-F238E27FC236}">
                <a16:creationId xmlns:a16="http://schemas.microsoft.com/office/drawing/2014/main" id="{D2CDADF7-44E5-B4FF-318F-A255875F4282}"/>
              </a:ext>
            </a:extLst>
          </p:cNvPr>
          <p:cNvSpPr txBox="1"/>
          <p:nvPr/>
        </p:nvSpPr>
        <p:spPr>
          <a:xfrm>
            <a:off x="350520" y="2212848"/>
            <a:ext cx="8763000" cy="4247317"/>
          </a:xfrm>
          <a:prstGeom prst="rect">
            <a:avLst/>
          </a:prstGeom>
          <a:noFill/>
        </p:spPr>
        <p:txBody>
          <a:bodyPr wrap="square">
            <a:spAutoFit/>
          </a:bodyPr>
          <a:lstStyle/>
          <a:p>
            <a:pPr>
              <a:buNone/>
            </a:pPr>
            <a:r>
              <a:rPr lang="en-US" b="1" dirty="0"/>
              <a:t>Eye Tracking with AI</a:t>
            </a:r>
          </a:p>
          <a:p>
            <a:pPr>
              <a:buNone/>
            </a:pPr>
            <a:endParaRPr lang="en-US" b="1" dirty="0"/>
          </a:p>
          <a:p>
            <a:pPr>
              <a:buNone/>
            </a:pPr>
            <a:r>
              <a:rPr lang="en-US" dirty="0"/>
              <a:t>To develop an AI-based gaze movement detection system to monitor candidate focus during online interviews. This is accomplished using </a:t>
            </a:r>
            <a:r>
              <a:rPr lang="en-US" b="1" dirty="0" err="1"/>
              <a:t>MediaPipe</a:t>
            </a:r>
            <a:r>
              <a:rPr lang="en-US" b="1" dirty="0"/>
              <a:t> </a:t>
            </a:r>
            <a:r>
              <a:rPr lang="en-US" b="1" dirty="0" err="1"/>
              <a:t>FaceMesh</a:t>
            </a:r>
            <a:r>
              <a:rPr lang="en-US" b="1" dirty="0"/>
              <a:t> (CV Framework)</a:t>
            </a:r>
            <a:r>
              <a:rPr lang="en-US" dirty="0"/>
              <a:t> that provides model for Gaze Detection.</a:t>
            </a:r>
          </a:p>
          <a:p>
            <a:pPr>
              <a:buNone/>
            </a:pPr>
            <a:endParaRPr lang="en-US" dirty="0"/>
          </a:p>
          <a:p>
            <a:pPr>
              <a:buNone/>
            </a:pPr>
            <a:r>
              <a:rPr lang="en-US" b="1" dirty="0"/>
              <a:t>Unwanted Screen Changes</a:t>
            </a:r>
          </a:p>
          <a:p>
            <a:pPr>
              <a:buNone/>
            </a:pPr>
            <a:endParaRPr lang="en-US" b="1" dirty="0"/>
          </a:p>
          <a:p>
            <a:pPr>
              <a:buNone/>
            </a:pPr>
            <a:r>
              <a:rPr lang="en-US" dirty="0"/>
              <a:t>To detect unauthorized screen switching and application changes. It is​ accomplished using </a:t>
            </a:r>
            <a:r>
              <a:rPr lang="en-US" b="1" dirty="0"/>
              <a:t>Browser Visibility API</a:t>
            </a:r>
            <a:r>
              <a:rPr lang="en-US" dirty="0"/>
              <a:t>.</a:t>
            </a:r>
          </a:p>
          <a:p>
            <a:pPr>
              <a:buNone/>
            </a:pPr>
            <a:endParaRPr lang="en-US" dirty="0"/>
          </a:p>
          <a:p>
            <a:pPr>
              <a:buNone/>
            </a:pPr>
            <a:r>
              <a:rPr lang="en-US" b="1" dirty="0"/>
              <a:t>Object Detection</a:t>
            </a:r>
          </a:p>
          <a:p>
            <a:pPr>
              <a:buNone/>
            </a:pPr>
            <a:endParaRPr lang="en-US" b="1" dirty="0"/>
          </a:p>
          <a:p>
            <a:pPr>
              <a:buNone/>
            </a:pPr>
            <a:r>
              <a:rPr lang="en-US" dirty="0"/>
              <a:t>To detect Objects to prevent use of unauthorized rescources. It is accomplished using </a:t>
            </a:r>
            <a:r>
              <a:rPr lang="en-US" b="1" dirty="0"/>
              <a:t>TensorFlow’s COCO SSD Model.</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914400"/>
          </a:xfrm>
        </p:spPr>
        <p:txBody>
          <a:bodyPr/>
          <a:lstStyle/>
          <a:p>
            <a:r>
              <a:rPr lang="en-US" dirty="0"/>
              <a:t>Methodology</a:t>
            </a:r>
          </a:p>
        </p:txBody>
      </p:sp>
      <p:sp>
        <p:nvSpPr>
          <p:cNvPr id="4" name="TextBox 3">
            <a:extLst>
              <a:ext uri="{FF2B5EF4-FFF2-40B4-BE49-F238E27FC236}">
                <a16:creationId xmlns:a16="http://schemas.microsoft.com/office/drawing/2014/main" id="{424AC7E8-1569-6FFE-7F93-0EDD6038284C}"/>
              </a:ext>
            </a:extLst>
          </p:cNvPr>
          <p:cNvSpPr txBox="1"/>
          <p:nvPr/>
        </p:nvSpPr>
        <p:spPr>
          <a:xfrm>
            <a:off x="457200" y="1955719"/>
            <a:ext cx="8458200" cy="923330"/>
          </a:xfrm>
          <a:prstGeom prst="rect">
            <a:avLst/>
          </a:prstGeom>
          <a:noFill/>
        </p:spPr>
        <p:txBody>
          <a:bodyPr wrap="square">
            <a:spAutoFit/>
          </a:bodyPr>
          <a:lstStyle/>
          <a:p>
            <a:pPr>
              <a:buNone/>
            </a:pPr>
            <a:r>
              <a:rPr lang="en-US" dirty="0"/>
              <a:t>The proposed system follows is developed using the </a:t>
            </a:r>
            <a:r>
              <a:rPr lang="en-US" b="1" dirty="0"/>
              <a:t>Incremental software development model</a:t>
            </a:r>
            <a:r>
              <a:rPr lang="en-US" dirty="0"/>
              <a:t>. The Incremental approach is adopted to ensure flexibility with continuous improvement throughout the development process. </a:t>
            </a:r>
          </a:p>
        </p:txBody>
      </p:sp>
      <p:sp>
        <p:nvSpPr>
          <p:cNvPr id="6" name="TextBox 5">
            <a:extLst>
              <a:ext uri="{FF2B5EF4-FFF2-40B4-BE49-F238E27FC236}">
                <a16:creationId xmlns:a16="http://schemas.microsoft.com/office/drawing/2014/main" id="{F0BAB6C5-FD04-2B1E-6EEB-906073AFD2C0}"/>
              </a:ext>
            </a:extLst>
          </p:cNvPr>
          <p:cNvSpPr txBox="1"/>
          <p:nvPr/>
        </p:nvSpPr>
        <p:spPr>
          <a:xfrm>
            <a:off x="1676400" y="2971382"/>
            <a:ext cx="5105400" cy="523220"/>
          </a:xfrm>
          <a:prstGeom prst="rect">
            <a:avLst/>
          </a:prstGeom>
          <a:noFill/>
        </p:spPr>
        <p:txBody>
          <a:bodyPr wrap="square">
            <a:spAutoFit/>
          </a:bodyPr>
          <a:lstStyle/>
          <a:p>
            <a:pPr algn="ctr">
              <a:buNone/>
            </a:pPr>
            <a:r>
              <a:rPr lang="en-US" sz="2800" b="1" dirty="0">
                <a:effectLst/>
              </a:rPr>
              <a:t>OAPS Core Modules</a:t>
            </a:r>
          </a:p>
        </p:txBody>
      </p:sp>
      <p:sp>
        <p:nvSpPr>
          <p:cNvPr id="8" name="TextBox 7">
            <a:extLst>
              <a:ext uri="{FF2B5EF4-FFF2-40B4-BE49-F238E27FC236}">
                <a16:creationId xmlns:a16="http://schemas.microsoft.com/office/drawing/2014/main" id="{26550236-9715-3B36-584A-7E44852C0C10}"/>
              </a:ext>
            </a:extLst>
          </p:cNvPr>
          <p:cNvSpPr txBox="1"/>
          <p:nvPr/>
        </p:nvSpPr>
        <p:spPr>
          <a:xfrm>
            <a:off x="426720" y="3633548"/>
            <a:ext cx="4572000" cy="369332"/>
          </a:xfrm>
          <a:prstGeom prst="rect">
            <a:avLst/>
          </a:prstGeom>
          <a:noFill/>
        </p:spPr>
        <p:txBody>
          <a:bodyPr wrap="square">
            <a:spAutoFit/>
          </a:bodyPr>
          <a:lstStyle/>
          <a:p>
            <a:pPr marL="285750" indent="-285750">
              <a:buFont typeface="Arial" panose="020B0604020202020204" pitchFamily="34" charset="0"/>
              <a:buChar char="•"/>
            </a:pPr>
            <a:r>
              <a:rPr lang="en-US" b="1" dirty="0"/>
              <a:t>CV Module (Gaze Monitoring)</a:t>
            </a:r>
          </a:p>
        </p:txBody>
      </p:sp>
      <p:sp>
        <p:nvSpPr>
          <p:cNvPr id="10" name="TextBox 9">
            <a:extLst>
              <a:ext uri="{FF2B5EF4-FFF2-40B4-BE49-F238E27FC236}">
                <a16:creationId xmlns:a16="http://schemas.microsoft.com/office/drawing/2014/main" id="{6A467A03-F12F-F3EB-6B0E-02A50DFB31A7}"/>
              </a:ext>
            </a:extLst>
          </p:cNvPr>
          <p:cNvSpPr txBox="1"/>
          <p:nvPr/>
        </p:nvSpPr>
        <p:spPr>
          <a:xfrm>
            <a:off x="426720" y="4264639"/>
            <a:ext cx="4572000" cy="369332"/>
          </a:xfrm>
          <a:prstGeom prst="rect">
            <a:avLst/>
          </a:prstGeom>
          <a:noFill/>
        </p:spPr>
        <p:txBody>
          <a:bodyPr wrap="square">
            <a:spAutoFit/>
          </a:bodyPr>
          <a:lstStyle/>
          <a:p>
            <a:pPr marL="285750" indent="-285750">
              <a:buFont typeface="Arial" panose="020B0604020202020204" pitchFamily="34" charset="0"/>
              <a:buChar char="•"/>
            </a:pPr>
            <a:r>
              <a:rPr lang="en-US" b="1" dirty="0"/>
              <a:t>Screen Monitoring Module</a:t>
            </a:r>
          </a:p>
        </p:txBody>
      </p:sp>
      <p:sp>
        <p:nvSpPr>
          <p:cNvPr id="12" name="TextBox 11">
            <a:extLst>
              <a:ext uri="{FF2B5EF4-FFF2-40B4-BE49-F238E27FC236}">
                <a16:creationId xmlns:a16="http://schemas.microsoft.com/office/drawing/2014/main" id="{36599D82-C6BE-3037-F5C1-732CFC3821C0}"/>
              </a:ext>
            </a:extLst>
          </p:cNvPr>
          <p:cNvSpPr txBox="1"/>
          <p:nvPr/>
        </p:nvSpPr>
        <p:spPr>
          <a:xfrm>
            <a:off x="426720" y="4895730"/>
            <a:ext cx="4572000" cy="369332"/>
          </a:xfrm>
          <a:prstGeom prst="rect">
            <a:avLst/>
          </a:prstGeom>
          <a:noFill/>
        </p:spPr>
        <p:txBody>
          <a:bodyPr wrap="square">
            <a:spAutoFit/>
          </a:bodyPr>
          <a:lstStyle/>
          <a:p>
            <a:pPr marL="285750" indent="-285750">
              <a:buFont typeface="Arial" panose="020B0604020202020204" pitchFamily="34" charset="0"/>
              <a:buChar char="•"/>
            </a:pPr>
            <a:r>
              <a:rPr lang="en-US" b="1" dirty="0"/>
              <a:t>Object Detection Module</a:t>
            </a:r>
          </a:p>
        </p:txBody>
      </p:sp>
      <p:sp>
        <p:nvSpPr>
          <p:cNvPr id="14" name="TextBox 13">
            <a:extLst>
              <a:ext uri="{FF2B5EF4-FFF2-40B4-BE49-F238E27FC236}">
                <a16:creationId xmlns:a16="http://schemas.microsoft.com/office/drawing/2014/main" id="{CB9B044E-3A89-CBD7-21D6-44EC76982026}"/>
              </a:ext>
            </a:extLst>
          </p:cNvPr>
          <p:cNvSpPr txBox="1"/>
          <p:nvPr/>
        </p:nvSpPr>
        <p:spPr>
          <a:xfrm>
            <a:off x="426720" y="5449728"/>
            <a:ext cx="4572000" cy="369332"/>
          </a:xfrm>
          <a:prstGeom prst="rect">
            <a:avLst/>
          </a:prstGeom>
          <a:noFill/>
        </p:spPr>
        <p:txBody>
          <a:bodyPr wrap="square">
            <a:spAutoFit/>
          </a:bodyPr>
          <a:lstStyle/>
          <a:p>
            <a:pPr marL="285750" indent="-285750">
              <a:buFont typeface="Arial" panose="020B0604020202020204" pitchFamily="34" charset="0"/>
              <a:buChar char="•"/>
            </a:pPr>
            <a:r>
              <a:rPr lang="en-US" b="1" dirty="0"/>
              <a:t>Frontend Dashboard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492EB6C-30B5-0D82-786F-E992207F49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907283"/>
            <a:ext cx="4330700" cy="593547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72F05AB-5019-CB50-9AB0-A80C05E7F8B7}"/>
              </a:ext>
            </a:extLst>
          </p:cNvPr>
          <p:cNvSpPr txBox="1"/>
          <p:nvPr/>
        </p:nvSpPr>
        <p:spPr>
          <a:xfrm>
            <a:off x="-381000" y="3244334"/>
            <a:ext cx="4572000" cy="369332"/>
          </a:xfrm>
          <a:prstGeom prst="rect">
            <a:avLst/>
          </a:prstGeom>
          <a:noFill/>
        </p:spPr>
        <p:txBody>
          <a:bodyPr wrap="square">
            <a:spAutoFit/>
          </a:bodyPr>
          <a:lstStyle/>
          <a:p>
            <a:pPr algn="ctr">
              <a:buNone/>
            </a:pPr>
            <a:r>
              <a:rPr lang="en-US" dirty="0">
                <a:effectLst/>
              </a:rPr>
              <a:t>Figure 1.1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CFEFD-F3E5-5987-8F42-841C9A11C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AE7EBD-06C6-1D37-FF14-42107ABF15C3}"/>
              </a:ext>
            </a:extLst>
          </p:cNvPr>
          <p:cNvSpPr>
            <a:spLocks noGrp="1"/>
          </p:cNvSpPr>
          <p:nvPr>
            <p:ph type="title"/>
          </p:nvPr>
        </p:nvSpPr>
        <p:spPr>
          <a:xfrm>
            <a:off x="381000" y="1143000"/>
            <a:ext cx="8305800" cy="945467"/>
          </a:xfrm>
        </p:spPr>
        <p:txBody>
          <a:bodyPr/>
          <a:lstStyle/>
          <a:p>
            <a:r>
              <a:rPr lang="en-US" dirty="0"/>
              <a:t>Tools</a:t>
            </a:r>
          </a:p>
        </p:txBody>
      </p:sp>
      <p:sp>
        <p:nvSpPr>
          <p:cNvPr id="4" name="TextBox 3">
            <a:extLst>
              <a:ext uri="{FF2B5EF4-FFF2-40B4-BE49-F238E27FC236}">
                <a16:creationId xmlns:a16="http://schemas.microsoft.com/office/drawing/2014/main" id="{7AA25AFB-7BAD-1DE5-67F6-ACC3239E9147}"/>
              </a:ext>
            </a:extLst>
          </p:cNvPr>
          <p:cNvSpPr txBox="1"/>
          <p:nvPr/>
        </p:nvSpPr>
        <p:spPr>
          <a:xfrm>
            <a:off x="533400" y="2088467"/>
            <a:ext cx="4572000" cy="523220"/>
          </a:xfrm>
          <a:prstGeom prst="rect">
            <a:avLst/>
          </a:prstGeom>
          <a:noFill/>
        </p:spPr>
        <p:txBody>
          <a:bodyPr wrap="square">
            <a:spAutoFit/>
          </a:bodyPr>
          <a:lstStyle/>
          <a:p>
            <a:pPr>
              <a:buNone/>
            </a:pPr>
            <a:r>
              <a:rPr lang="en-US" sz="2800" dirty="0"/>
              <a:t>Gaze Monitoring:</a:t>
            </a:r>
          </a:p>
        </p:txBody>
      </p:sp>
      <p:sp>
        <p:nvSpPr>
          <p:cNvPr id="8" name="TextBox 7">
            <a:extLst>
              <a:ext uri="{FF2B5EF4-FFF2-40B4-BE49-F238E27FC236}">
                <a16:creationId xmlns:a16="http://schemas.microsoft.com/office/drawing/2014/main" id="{25A453D5-FFB1-8E8C-B5C8-30AC2534CC17}"/>
              </a:ext>
            </a:extLst>
          </p:cNvPr>
          <p:cNvSpPr txBox="1"/>
          <p:nvPr/>
        </p:nvSpPr>
        <p:spPr>
          <a:xfrm>
            <a:off x="502920" y="2611687"/>
            <a:ext cx="8686800" cy="369332"/>
          </a:xfrm>
          <a:prstGeom prst="rect">
            <a:avLst/>
          </a:prstGeom>
          <a:noFill/>
        </p:spPr>
        <p:txBody>
          <a:bodyPr wrap="square">
            <a:spAutoFit/>
          </a:bodyPr>
          <a:lstStyle/>
          <a:p>
            <a:pPr marL="285750" indent="-285750">
              <a:buFont typeface="Arial" panose="020B0604020202020204" pitchFamily="34" charset="0"/>
              <a:buChar char="•"/>
            </a:pPr>
            <a:r>
              <a:rPr lang="en-US" dirty="0" err="1"/>
              <a:t>MediaPipe</a:t>
            </a:r>
            <a:r>
              <a:rPr lang="en-US" dirty="0"/>
              <a:t> Face Mesh</a:t>
            </a:r>
            <a:r>
              <a:rPr lang="en-US" b="1" i="1" dirty="0"/>
              <a:t> </a:t>
            </a:r>
            <a:r>
              <a:rPr lang="en-US" dirty="0"/>
              <a:t>(AI Powered CV Framework)</a:t>
            </a:r>
          </a:p>
        </p:txBody>
      </p:sp>
      <p:sp>
        <p:nvSpPr>
          <p:cNvPr id="10" name="TextBox 9">
            <a:extLst>
              <a:ext uri="{FF2B5EF4-FFF2-40B4-BE49-F238E27FC236}">
                <a16:creationId xmlns:a16="http://schemas.microsoft.com/office/drawing/2014/main" id="{49170701-F921-8548-AD01-B02753206F1A}"/>
              </a:ext>
            </a:extLst>
          </p:cNvPr>
          <p:cNvSpPr txBox="1"/>
          <p:nvPr/>
        </p:nvSpPr>
        <p:spPr>
          <a:xfrm>
            <a:off x="624840" y="3198901"/>
            <a:ext cx="6705600" cy="523220"/>
          </a:xfrm>
          <a:prstGeom prst="rect">
            <a:avLst/>
          </a:prstGeom>
          <a:noFill/>
        </p:spPr>
        <p:txBody>
          <a:bodyPr wrap="square">
            <a:spAutoFit/>
          </a:bodyPr>
          <a:lstStyle/>
          <a:p>
            <a:pPr>
              <a:buNone/>
            </a:pPr>
            <a:r>
              <a:rPr lang="en-US" sz="2800" dirty="0"/>
              <a:t>Screen Monitoring Module:</a:t>
            </a:r>
          </a:p>
        </p:txBody>
      </p:sp>
      <p:sp>
        <p:nvSpPr>
          <p:cNvPr id="12" name="TextBox 11">
            <a:extLst>
              <a:ext uri="{FF2B5EF4-FFF2-40B4-BE49-F238E27FC236}">
                <a16:creationId xmlns:a16="http://schemas.microsoft.com/office/drawing/2014/main" id="{4F06D5A1-07B8-4F1E-F3C4-BFBA58F0A456}"/>
              </a:ext>
            </a:extLst>
          </p:cNvPr>
          <p:cNvSpPr txBox="1"/>
          <p:nvPr/>
        </p:nvSpPr>
        <p:spPr>
          <a:xfrm>
            <a:off x="457200" y="3736994"/>
            <a:ext cx="8458200" cy="369332"/>
          </a:xfrm>
          <a:prstGeom prst="rect">
            <a:avLst/>
          </a:prstGeom>
          <a:noFill/>
        </p:spPr>
        <p:txBody>
          <a:bodyPr wrap="square">
            <a:spAutoFit/>
          </a:bodyPr>
          <a:lstStyle/>
          <a:p>
            <a:pPr marL="285750" indent="-285750">
              <a:buFont typeface="Arial" panose="020B0604020202020204" pitchFamily="34" charset="0"/>
              <a:buChar char="•"/>
            </a:pPr>
            <a:r>
              <a:rPr lang="en-US" dirty="0"/>
              <a:t>Browser Visibility API.</a:t>
            </a:r>
          </a:p>
        </p:txBody>
      </p:sp>
      <p:sp>
        <p:nvSpPr>
          <p:cNvPr id="14" name="TextBox 13">
            <a:extLst>
              <a:ext uri="{FF2B5EF4-FFF2-40B4-BE49-F238E27FC236}">
                <a16:creationId xmlns:a16="http://schemas.microsoft.com/office/drawing/2014/main" id="{78AE8AF9-5630-3020-E40B-67408771D985}"/>
              </a:ext>
            </a:extLst>
          </p:cNvPr>
          <p:cNvSpPr txBox="1"/>
          <p:nvPr/>
        </p:nvSpPr>
        <p:spPr>
          <a:xfrm>
            <a:off x="533400" y="4316503"/>
            <a:ext cx="5852160" cy="523220"/>
          </a:xfrm>
          <a:prstGeom prst="rect">
            <a:avLst/>
          </a:prstGeom>
          <a:noFill/>
        </p:spPr>
        <p:txBody>
          <a:bodyPr wrap="square">
            <a:spAutoFit/>
          </a:bodyPr>
          <a:lstStyle/>
          <a:p>
            <a:pPr>
              <a:buNone/>
            </a:pPr>
            <a:r>
              <a:rPr lang="en-US" sz="2800" dirty="0"/>
              <a:t>Object Detection Module:</a:t>
            </a:r>
          </a:p>
        </p:txBody>
      </p:sp>
      <p:sp>
        <p:nvSpPr>
          <p:cNvPr id="16" name="TextBox 15">
            <a:extLst>
              <a:ext uri="{FF2B5EF4-FFF2-40B4-BE49-F238E27FC236}">
                <a16:creationId xmlns:a16="http://schemas.microsoft.com/office/drawing/2014/main" id="{ECC44A42-4314-3D4D-A3E3-30A21F71CD4C}"/>
              </a:ext>
            </a:extLst>
          </p:cNvPr>
          <p:cNvSpPr txBox="1"/>
          <p:nvPr/>
        </p:nvSpPr>
        <p:spPr>
          <a:xfrm>
            <a:off x="518160" y="4827930"/>
            <a:ext cx="8458200" cy="369332"/>
          </a:xfrm>
          <a:prstGeom prst="rect">
            <a:avLst/>
          </a:prstGeom>
          <a:noFill/>
        </p:spPr>
        <p:txBody>
          <a:bodyPr wrap="square">
            <a:spAutoFit/>
          </a:bodyPr>
          <a:lstStyle/>
          <a:p>
            <a:pPr marL="285750" indent="-285750">
              <a:buFont typeface="Arial" panose="020B0604020202020204" pitchFamily="34" charset="0"/>
              <a:buChar char="•"/>
            </a:pPr>
            <a:r>
              <a:rPr lang="en-US" dirty="0"/>
              <a:t>TensorFlow’s COCO SSD Object Detection Model</a:t>
            </a:r>
          </a:p>
        </p:txBody>
      </p:sp>
      <p:sp>
        <p:nvSpPr>
          <p:cNvPr id="18" name="TextBox 17">
            <a:extLst>
              <a:ext uri="{FF2B5EF4-FFF2-40B4-BE49-F238E27FC236}">
                <a16:creationId xmlns:a16="http://schemas.microsoft.com/office/drawing/2014/main" id="{F2CD49BB-CB69-B4A7-F38E-24053BFEFF34}"/>
              </a:ext>
            </a:extLst>
          </p:cNvPr>
          <p:cNvSpPr txBox="1"/>
          <p:nvPr/>
        </p:nvSpPr>
        <p:spPr>
          <a:xfrm>
            <a:off x="594360" y="5380406"/>
            <a:ext cx="4572000" cy="523220"/>
          </a:xfrm>
          <a:prstGeom prst="rect">
            <a:avLst/>
          </a:prstGeom>
          <a:noFill/>
        </p:spPr>
        <p:txBody>
          <a:bodyPr wrap="square">
            <a:spAutoFit/>
          </a:bodyPr>
          <a:lstStyle/>
          <a:p>
            <a:pPr>
              <a:buNone/>
            </a:pPr>
            <a:r>
              <a:rPr lang="en-US" sz="2800" dirty="0"/>
              <a:t>Frontend Dashboard:</a:t>
            </a:r>
          </a:p>
        </p:txBody>
      </p:sp>
      <p:sp>
        <p:nvSpPr>
          <p:cNvPr id="20" name="TextBox 19">
            <a:extLst>
              <a:ext uri="{FF2B5EF4-FFF2-40B4-BE49-F238E27FC236}">
                <a16:creationId xmlns:a16="http://schemas.microsoft.com/office/drawing/2014/main" id="{C179BBDA-9C51-378D-76C2-ED45F5D414AC}"/>
              </a:ext>
            </a:extLst>
          </p:cNvPr>
          <p:cNvSpPr txBox="1"/>
          <p:nvPr/>
        </p:nvSpPr>
        <p:spPr>
          <a:xfrm>
            <a:off x="594360" y="5918866"/>
            <a:ext cx="7757160" cy="369332"/>
          </a:xfrm>
          <a:prstGeom prst="rect">
            <a:avLst/>
          </a:prstGeom>
          <a:noFill/>
        </p:spPr>
        <p:txBody>
          <a:bodyPr wrap="square">
            <a:spAutoFit/>
          </a:bodyPr>
          <a:lstStyle/>
          <a:p>
            <a:pPr marL="285750" indent="-285750">
              <a:buFont typeface="Arial" panose="020B0604020202020204" pitchFamily="34" charset="0"/>
              <a:buChar char="•"/>
            </a:pPr>
            <a:r>
              <a:rPr lang="en-US" dirty="0"/>
              <a:t>Web-based dashboard</a:t>
            </a:r>
          </a:p>
        </p:txBody>
      </p:sp>
    </p:spTree>
    <p:extLst>
      <p:ext uri="{BB962C8B-B14F-4D97-AF65-F5344CB8AC3E}">
        <p14:creationId xmlns:p14="http://schemas.microsoft.com/office/powerpoint/2010/main" val="40818941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685800"/>
            <a:ext cx="8229600" cy="1069848"/>
          </a:xfrm>
        </p:spPr>
        <p:txBody>
          <a:bodyPr/>
          <a:lstStyle/>
          <a:p>
            <a:r>
              <a:rPr lang="en-US" dirty="0"/>
              <a:t>References</a:t>
            </a:r>
          </a:p>
        </p:txBody>
      </p:sp>
      <p:sp>
        <p:nvSpPr>
          <p:cNvPr id="4" name="TextBox 3">
            <a:extLst>
              <a:ext uri="{FF2B5EF4-FFF2-40B4-BE49-F238E27FC236}">
                <a16:creationId xmlns:a16="http://schemas.microsoft.com/office/drawing/2014/main" id="{BBCB9E12-8FFB-EF37-E35E-C42BE8998019}"/>
              </a:ext>
            </a:extLst>
          </p:cNvPr>
          <p:cNvSpPr txBox="1"/>
          <p:nvPr/>
        </p:nvSpPr>
        <p:spPr>
          <a:xfrm>
            <a:off x="0" y="1600200"/>
            <a:ext cx="8991600" cy="5092163"/>
          </a:xfrm>
          <a:prstGeom prst="rect">
            <a:avLst/>
          </a:prstGeom>
          <a:noFill/>
        </p:spPr>
        <p:txBody>
          <a:bodyPr wrap="square">
            <a:spAutoFit/>
          </a:bodyPr>
          <a:lstStyle/>
          <a:p>
            <a:pPr marL="285750" marR="102870" lvl="0" indent="-285750" algn="just" rtl="0">
              <a:lnSpc>
                <a:spcPct val="115000"/>
              </a:lnSpc>
              <a:spcBef>
                <a:spcPts val="5"/>
              </a:spcBef>
              <a:buSzPts val="1150"/>
              <a:buFont typeface="Arial" panose="020B0604020202020204" pitchFamily="34" charset="0"/>
              <a:buChar char="•"/>
              <a:tabLst>
                <a:tab pos="318135" algn="l"/>
              </a:tabLst>
            </a:pPr>
            <a:r>
              <a:rPr lang="en-US" sz="1800" spc="-5" dirty="0">
                <a:effectLst/>
                <a:latin typeface="Times New Roman" panose="02020603050405020304" pitchFamily="18" charset="0"/>
                <a:ea typeface="Arial" panose="020B0604020202020204" pitchFamily="34" charset="0"/>
              </a:rPr>
              <a:t>Maria Ahmad And Ghassan Mohammad, </a:t>
            </a:r>
            <a:r>
              <a:rPr lang="en-US" sz="1800" b="1" spc="-5" dirty="0">
                <a:effectLst/>
                <a:latin typeface="Times New Roman" panose="02020603050405020304" pitchFamily="18" charset="0"/>
                <a:ea typeface="Arial" panose="020B0604020202020204" pitchFamily="34" charset="0"/>
              </a:rPr>
              <a:t>“</a:t>
            </a:r>
            <a:r>
              <a:rPr lang="en-US" sz="1800" spc="-5" dirty="0">
                <a:effectLst/>
                <a:latin typeface="Times New Roman" panose="02020603050405020304" pitchFamily="18" charset="0"/>
                <a:ea typeface="Arial" panose="020B0604020202020204" pitchFamily="34" charset="0"/>
              </a:rPr>
              <a:t>Advancements in Automated Cheating Detection Systems for Online and In-Person Examinations: A Comprehensive Review of Methods, Technologies, and Effectiveness</a:t>
            </a:r>
            <a:r>
              <a:rPr lang="en-US" sz="1800" b="1" spc="-5" dirty="0">
                <a:effectLst/>
                <a:latin typeface="Times New Roman" panose="02020603050405020304" pitchFamily="18" charset="0"/>
                <a:ea typeface="Arial" panose="020B0604020202020204" pitchFamily="34" charset="0"/>
              </a:rPr>
              <a:t>”</a:t>
            </a:r>
            <a:r>
              <a:rPr lang="en-US" sz="1800" spc="-5" dirty="0">
                <a:effectLst/>
                <a:latin typeface="Times New Roman" panose="02020603050405020304" pitchFamily="18" charset="0"/>
                <a:ea typeface="Arial" panose="020B0604020202020204" pitchFamily="34" charset="0"/>
              </a:rPr>
              <a:t>, </a:t>
            </a:r>
            <a:r>
              <a:rPr lang="en-US" sz="1800" i="1" spc="-5" dirty="0">
                <a:effectLst/>
                <a:latin typeface="Times New Roman" panose="02020603050405020304" pitchFamily="18" charset="0"/>
                <a:ea typeface="Arial" panose="020B0604020202020204" pitchFamily="34" charset="0"/>
              </a:rPr>
              <a:t>IJMRAI</a:t>
            </a:r>
            <a:r>
              <a:rPr lang="en-US" sz="1800" spc="-5" dirty="0">
                <a:effectLst/>
                <a:latin typeface="Times New Roman" panose="02020603050405020304" pitchFamily="18" charset="0"/>
                <a:ea typeface="Arial" panose="020B0604020202020204" pitchFamily="34" charset="0"/>
              </a:rPr>
              <a:t>, vol. 1, no. 2, pp. 131–142, Dec. 2025</a:t>
            </a:r>
            <a:endParaRPr lang="en-US" sz="1600" spc="-5" dirty="0">
              <a:effectLst/>
              <a:latin typeface="Arial" panose="020B0604020202020204" pitchFamily="34" charset="0"/>
              <a:ea typeface="Arial" panose="020B0604020202020204" pitchFamily="34" charset="0"/>
            </a:endParaRPr>
          </a:p>
          <a:p>
            <a:pPr marR="102870" algn="just">
              <a:lnSpc>
                <a:spcPct val="115000"/>
              </a:lnSpc>
              <a:spcBef>
                <a:spcPts val="5"/>
              </a:spcBef>
              <a:tabLst>
                <a:tab pos="318135" algn="l"/>
              </a:tabLst>
            </a:pPr>
            <a:r>
              <a:rPr lang="en-US" sz="1800" b="1" dirty="0">
                <a:effectLst/>
                <a:latin typeface="Times New Roman" panose="02020603050405020304" pitchFamily="18" charset="0"/>
                <a:ea typeface="Arial" panose="020B0604020202020204" pitchFamily="34" charset="0"/>
              </a:rPr>
              <a:t> </a:t>
            </a:r>
            <a:endParaRPr lang="en-US" sz="1600" dirty="0">
              <a:effectLst/>
              <a:latin typeface="Arial" panose="020B0604020202020204" pitchFamily="34" charset="0"/>
              <a:ea typeface="Arial" panose="020B0604020202020204" pitchFamily="34" charset="0"/>
            </a:endParaRPr>
          </a:p>
          <a:p>
            <a:pPr marL="285750" marR="100965" lvl="0" indent="-285750" algn="just">
              <a:lnSpc>
                <a:spcPct val="115000"/>
              </a:lnSpc>
              <a:buSzPts val="1150"/>
              <a:buFont typeface="Arial" panose="020B0604020202020204" pitchFamily="34" charset="0"/>
              <a:buChar char="•"/>
              <a:tabLst>
                <a:tab pos="318135" algn="l"/>
              </a:tabLst>
            </a:pPr>
            <a:r>
              <a:rPr lang="en-US" sz="1800" spc="-5" dirty="0">
                <a:effectLst/>
                <a:latin typeface="Times New Roman" panose="02020603050405020304" pitchFamily="18" charset="0"/>
                <a:ea typeface="Arial" panose="020B0604020202020204" pitchFamily="34" charset="0"/>
              </a:rPr>
              <a:t>N. Taskin, “Cheating and prevention strategies in online assessment,” Teach. Assess. Era Educ. 5.0, no. June, pp. 161–172, 2024.</a:t>
            </a:r>
            <a:endParaRPr lang="en-US" sz="1600" spc="-5" dirty="0">
              <a:effectLst/>
              <a:latin typeface="Arial" panose="020B0604020202020204" pitchFamily="34" charset="0"/>
              <a:ea typeface="Arial" panose="020B0604020202020204" pitchFamily="34" charset="0"/>
            </a:endParaRPr>
          </a:p>
          <a:p>
            <a:pPr marR="100965" algn="just">
              <a:lnSpc>
                <a:spcPct val="115000"/>
              </a:lnSpc>
              <a:tabLst>
                <a:tab pos="318135" algn="l"/>
              </a:tabLst>
            </a:pPr>
            <a:r>
              <a:rPr lang="en-US" sz="1800" dirty="0">
                <a:effectLst/>
                <a:latin typeface="Times New Roman" panose="02020603050405020304" pitchFamily="18" charset="0"/>
                <a:ea typeface="Arial" panose="020B0604020202020204" pitchFamily="34" charset="0"/>
              </a:rPr>
              <a:t> </a:t>
            </a:r>
            <a:endParaRPr lang="en-US" sz="1600" dirty="0">
              <a:effectLst/>
              <a:latin typeface="Arial" panose="020B0604020202020204" pitchFamily="34" charset="0"/>
              <a:ea typeface="Arial" panose="020B0604020202020204" pitchFamily="34" charset="0"/>
            </a:endParaRPr>
          </a:p>
          <a:p>
            <a:pPr marL="285750" marR="0" lvl="0" indent="-285750">
              <a:buSzPts val="1150"/>
              <a:buFont typeface="Arial" panose="020B0604020202020204" pitchFamily="34" charset="0"/>
              <a:buChar char="•"/>
            </a:pPr>
            <a:r>
              <a:rPr lang="en-US" sz="1800" spc="-5" dirty="0">
                <a:effectLst/>
                <a:latin typeface="Times New Roman" panose="02020603050405020304" pitchFamily="18" charset="0"/>
                <a:ea typeface="Arial" panose="020B0604020202020204" pitchFamily="34" charset="0"/>
              </a:rPr>
              <a:t>K. Lee and M. Fanguy, “Online exam proctoring technologies: Educational innovation or deterioration? ,” Br. J. Educ. Technol., vol. 53, no. 3, pp. 475–490, 2022.</a:t>
            </a:r>
            <a:endParaRPr lang="en-US" sz="1600" spc="-5" dirty="0">
              <a:effectLst/>
              <a:latin typeface="Arial" panose="020B0604020202020204" pitchFamily="34" charset="0"/>
              <a:ea typeface="Arial" panose="020B0604020202020204" pitchFamily="34" charset="0"/>
            </a:endParaRPr>
          </a:p>
          <a:p>
            <a:pPr marR="100965" algn="just">
              <a:tabLst>
                <a:tab pos="318135" algn="l"/>
              </a:tabLst>
            </a:pPr>
            <a:endParaRPr lang="en-US" sz="1600" dirty="0">
              <a:effectLst/>
              <a:latin typeface="Arial" panose="020B0604020202020204" pitchFamily="34" charset="0"/>
              <a:ea typeface="Arial" panose="020B0604020202020204" pitchFamily="34" charset="0"/>
            </a:endParaRPr>
          </a:p>
          <a:p>
            <a:pPr marL="285750" marR="100965" lvl="0" indent="-285750" algn="just">
              <a:buSzPts val="1150"/>
              <a:buFont typeface="Arial" panose="020B0604020202020204" pitchFamily="34" charset="0"/>
              <a:buChar char="•"/>
              <a:tabLst>
                <a:tab pos="318135" algn="l"/>
              </a:tabLst>
            </a:pPr>
            <a:r>
              <a:rPr lang="en-US" sz="1800" spc="-5" dirty="0">
                <a:effectLst/>
                <a:latin typeface="Times New Roman" panose="02020603050405020304" pitchFamily="18" charset="0"/>
                <a:ea typeface="Arial" panose="020B0604020202020204" pitchFamily="34" charset="0"/>
              </a:rPr>
              <a:t>AC. </a:t>
            </a:r>
            <a:r>
              <a:rPr lang="en-US" sz="1800" spc="-5" dirty="0" err="1">
                <a:effectLst/>
                <a:latin typeface="Times New Roman" panose="02020603050405020304" pitchFamily="18" charset="0"/>
                <a:ea typeface="Arial" panose="020B0604020202020204" pitchFamily="34" charset="0"/>
              </a:rPr>
              <a:t>Ozgen</a:t>
            </a:r>
            <a:r>
              <a:rPr lang="en-US" sz="1800" spc="-5" dirty="0">
                <a:effectLst/>
                <a:latin typeface="Times New Roman" panose="02020603050405020304" pitchFamily="18" charset="0"/>
                <a:ea typeface="Arial" panose="020B0604020202020204" pitchFamily="34" charset="0"/>
              </a:rPr>
              <a:t>, M. U. Öztürk, O. Torun, J. Yang and M. Z. Alparslan, "Cheating Detection Pipeline for Online </a:t>
            </a:r>
            <a:r>
              <a:rPr lang="en-US" sz="1800" spc="-5" dirty="0" err="1">
                <a:effectLst/>
                <a:latin typeface="Times New Roman" panose="02020603050405020304" pitchFamily="18" charset="0"/>
                <a:ea typeface="Arial" panose="020B0604020202020204" pitchFamily="34" charset="0"/>
              </a:rPr>
              <a:t>Interviews,"</a:t>
            </a:r>
            <a:r>
              <a:rPr lang="en-US" sz="1800" i="1" spc="-5" dirty="0" err="1">
                <a:effectLst/>
                <a:latin typeface="Times New Roman" panose="02020603050405020304" pitchFamily="18" charset="0"/>
                <a:ea typeface="Arial" panose="020B0604020202020204" pitchFamily="34" charset="0"/>
              </a:rPr>
              <a:t>Signal</a:t>
            </a:r>
            <a:r>
              <a:rPr lang="en-US" sz="1800" i="1" spc="-5" dirty="0">
                <a:effectLst/>
                <a:latin typeface="Times New Roman" panose="02020603050405020304" pitchFamily="18" charset="0"/>
                <a:ea typeface="Arial" panose="020B0604020202020204" pitchFamily="34" charset="0"/>
              </a:rPr>
              <a:t> Processing and Communications Applications Conference (SIU)</a:t>
            </a:r>
            <a:r>
              <a:rPr lang="en-US" sz="1800" spc="-5" dirty="0">
                <a:effectLst/>
                <a:latin typeface="Times New Roman" panose="02020603050405020304" pitchFamily="18" charset="0"/>
                <a:ea typeface="Arial" panose="020B0604020202020204" pitchFamily="34" charset="0"/>
              </a:rPr>
              <a:t>, pp. 1-4, June 2021.</a:t>
            </a:r>
            <a:endParaRPr lang="en-US" sz="1600" spc="-5" dirty="0">
              <a:effectLst/>
              <a:latin typeface="Arial" panose="020B0604020202020204" pitchFamily="34" charset="0"/>
              <a:ea typeface="Arial" panose="020B0604020202020204" pitchFamily="34" charset="0"/>
            </a:endParaRPr>
          </a:p>
          <a:p>
            <a:pPr marR="100965" algn="just">
              <a:tabLst>
                <a:tab pos="318135" algn="l"/>
              </a:tabLst>
            </a:pPr>
            <a:endParaRPr lang="en-US" sz="1600" dirty="0">
              <a:effectLst/>
              <a:latin typeface="Arial" panose="020B0604020202020204" pitchFamily="34" charset="0"/>
              <a:ea typeface="Arial" panose="020B0604020202020204" pitchFamily="34" charset="0"/>
            </a:endParaRPr>
          </a:p>
          <a:p>
            <a:pPr marL="285750" marR="100965" lvl="0" indent="-285750" algn="just">
              <a:buSzPts val="1150"/>
              <a:buFont typeface="Arial" panose="020B0604020202020204" pitchFamily="34" charset="0"/>
              <a:buChar char="•"/>
              <a:tabLst>
                <a:tab pos="318135" algn="l"/>
              </a:tabLst>
            </a:pPr>
            <a:r>
              <a:rPr lang="en-US" sz="1800" spc="-5" dirty="0" err="1">
                <a:effectLst/>
                <a:latin typeface="Times New Roman" panose="02020603050405020304" pitchFamily="18" charset="0"/>
                <a:ea typeface="Arial" panose="020B0604020202020204" pitchFamily="34" charset="0"/>
              </a:rPr>
              <a:t>I.Jegham</a:t>
            </a:r>
            <a:r>
              <a:rPr lang="en-US" sz="1800" spc="-5" dirty="0">
                <a:effectLst/>
                <a:latin typeface="Times New Roman" panose="02020603050405020304" pitchFamily="18" charset="0"/>
                <a:ea typeface="Arial" panose="020B0604020202020204" pitchFamily="34" charset="0"/>
              </a:rPr>
              <a:t>, A. Ben Khalifa, I. </a:t>
            </a:r>
            <a:r>
              <a:rPr lang="en-US" sz="1800" spc="-5" dirty="0" err="1">
                <a:effectLst/>
                <a:latin typeface="Times New Roman" panose="02020603050405020304" pitchFamily="18" charset="0"/>
                <a:ea typeface="Arial" panose="020B0604020202020204" pitchFamily="34" charset="0"/>
              </a:rPr>
              <a:t>Alouani</a:t>
            </a:r>
            <a:r>
              <a:rPr lang="en-US" sz="1800" spc="-5" dirty="0">
                <a:effectLst/>
                <a:latin typeface="Times New Roman" panose="02020603050405020304" pitchFamily="18" charset="0"/>
                <a:ea typeface="Arial" panose="020B0604020202020204" pitchFamily="34" charset="0"/>
              </a:rPr>
              <a:t>, and M. Mahjoub, “Vision-based human action recognition: An overview and real-world challenges,” Digit. </a:t>
            </a:r>
            <a:r>
              <a:rPr lang="en-US" sz="1800" spc="-5" dirty="0" err="1">
                <a:effectLst/>
                <a:latin typeface="Times New Roman" panose="02020603050405020304" pitchFamily="18" charset="0"/>
                <a:ea typeface="Arial" panose="020B0604020202020204" pitchFamily="34" charset="0"/>
              </a:rPr>
              <a:t>Investig</a:t>
            </a:r>
            <a:r>
              <a:rPr lang="en-US" sz="1800" spc="-5" dirty="0">
                <a:effectLst/>
                <a:latin typeface="Times New Roman" panose="02020603050405020304" pitchFamily="18" charset="0"/>
                <a:ea typeface="Arial" panose="020B0604020202020204" pitchFamily="34" charset="0"/>
              </a:rPr>
              <a:t>., vol. 32, p. 200901, Mar. 2020.</a:t>
            </a:r>
            <a:endParaRPr lang="en-US" sz="1600" spc="-5" dirty="0">
              <a:effectLst/>
              <a:latin typeface="Arial" panose="020B0604020202020204" pitchFamily="34" charset="0"/>
              <a:ea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9400" y="3200400"/>
            <a:ext cx="3429000" cy="1069848"/>
          </a:xfrm>
        </p:spPr>
        <p:txBody>
          <a:bodyPr>
            <a:normAutofit/>
          </a:bodyPr>
          <a:lstStyle/>
          <a:p>
            <a:pPr algn="ctr"/>
            <a:r>
              <a:rPr lang="en-US" sz="5400" dirty="0"/>
              <a:t>Thanks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4048</TotalTime>
  <Words>692</Words>
  <Application>Microsoft Office PowerPoint</Application>
  <PresentationFormat>On-screen Show (4:3)</PresentationFormat>
  <Paragraphs>68</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Georgia</vt:lpstr>
      <vt:lpstr>Times New Roman</vt:lpstr>
      <vt:lpstr>Trebuchet MS</vt:lpstr>
      <vt:lpstr>Wingdings</vt:lpstr>
      <vt:lpstr>Wingdings 2</vt:lpstr>
      <vt:lpstr>Urban</vt:lpstr>
      <vt:lpstr>           BS(SE)  PRESENTED BY:  Ramla Rahman        20949  Adila        20397   SUPERVISOR Muhammad Abrar Khan    </vt:lpstr>
      <vt:lpstr>Outline</vt:lpstr>
      <vt:lpstr>Introduction</vt:lpstr>
      <vt:lpstr>Related Work</vt:lpstr>
      <vt:lpstr>Problem Statement</vt:lpstr>
      <vt:lpstr>Proposed Solution</vt:lpstr>
      <vt:lpstr>Methodology</vt:lpstr>
      <vt:lpstr>PowerPoint Presentation</vt:lpstr>
      <vt:lpstr>Tools</vt:lpstr>
      <vt:lpstr>References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Registration no:11814 &amp; 12418  Name of Students:Muhammad hashir &amp; Maham Sikandar   Batch no:  09  Name of supervisor:Shahab ul islam  Major Area of study:BS(SE)</dc:title>
  <dc:creator>Hashir</dc:creator>
  <cp:lastModifiedBy>Ramla Rahman</cp:lastModifiedBy>
  <cp:revision>66</cp:revision>
  <dcterms:created xsi:type="dcterms:W3CDTF">2018-01-04T09:46:23Z</dcterms:created>
  <dcterms:modified xsi:type="dcterms:W3CDTF">2026-01-09T04:58:48Z</dcterms:modified>
</cp:coreProperties>
</file>